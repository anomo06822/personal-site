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/ conversation-generated infographic asset: ga4_crm_bi_infographic.png
- Other slide content is original synthesis for this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assets or external claims. Slide content is an original synthesis for this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assets or external claims. Example figures on the funnel are illustrative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assets or external claims. Example pipeline counts are illustrative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assets or external claims. Dashboard values are illustrative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assets or external claims. This slide is an original conceptual data-flow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assets or external claims. This slide is an original scenario mapping.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 external assets or external claims. This slide is an original implementation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089904"/>
            <a:ext cx="1691640" cy="91440"/>
          </a:xfrm>
          <a:prstGeom prst="roundRect">
            <a:avLst>
              <a:gd name="adj" fmla="val 50000"/>
            </a:avLst>
          </a:prstGeom>
          <a:solidFill>
            <a:srgbClr val="4D6BFF"/>
          </a:solidFill>
          <a:ln w="12700">
            <a:solidFill>
              <a:srgbClr val="4D6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40864" y="6089904"/>
            <a:ext cx="1691640" cy="91440"/>
          </a:xfrm>
          <a:prstGeom prst="roundRect">
            <a:avLst>
              <a:gd name="adj" fmla="val 50000"/>
            </a:avLst>
          </a:prstGeom>
          <a:solidFill>
            <a:srgbClr val="1FA77A"/>
          </a:solidFill>
          <a:ln w="12700">
            <a:solidFill>
              <a:srgbClr val="1FA77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6089904"/>
            <a:ext cx="1691640" cy="91440"/>
          </a:xfrm>
          <a:prstGeom prst="roundRect">
            <a:avLst>
              <a:gd name="adj" fmla="val 50000"/>
            </a:avLst>
          </a:prstGeom>
          <a:solidFill>
            <a:srgbClr val="7D5BF6"/>
          </a:solidFill>
          <a:ln w="12700">
            <a:solidFill>
              <a:srgbClr val="7D5BF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731520"/>
            <a:ext cx="1792224" cy="310896"/>
          </a:xfrm>
          <a:prstGeom prst="roundRect">
            <a:avLst>
              <a:gd name="adj" fmla="val 23529"/>
            </a:avLst>
          </a:prstGeom>
          <a:solidFill>
            <a:srgbClr val="E8ECFF"/>
          </a:solidFill>
          <a:ln w="12700">
            <a:solidFill>
              <a:srgbClr val="E8EC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749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3551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把三套常見系統一次講清楚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GA4、CRM、BI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 5W1H 看懂分工與協作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58368" y="25420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這份簡報不是在比誰比較重要，而是幫你先分清楚：</a:t>
            </a:r>
            <a:endParaRPr lang="en-US" sz="1620" dirty="0"/>
          </a:p>
          <a:p>
            <a:pPr indent="0" marL="0">
              <a:buNone/>
            </a:pPr>
            <a:r>
              <a:rPr lang="en-US" sz="162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誰在看行為、誰在看客戶、誰在看整體經營。</a:t>
            </a:r>
            <a:endParaRPr lang="en-US" sz="1620" dirty="0"/>
          </a:p>
        </p:txBody>
      </p:sp>
      <p:sp>
        <p:nvSpPr>
          <p:cNvPr id="9" name="Shape 7"/>
          <p:cNvSpPr/>
          <p:nvPr/>
        </p:nvSpPr>
        <p:spPr>
          <a:xfrm>
            <a:off x="658368" y="3749040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E9EEFF"/>
          </a:solidFill>
          <a:ln w="1270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6732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551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1517904" y="3749040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E7F6F0"/>
          </a:solidFill>
          <a:ln w="12700">
            <a:solidFill>
              <a:srgbClr val="E7F6F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91056" y="376732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8E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377440" y="3749040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EEE8FF"/>
          </a:solidFill>
          <a:ln w="12700">
            <a:solidFill>
              <a:srgbClr val="EEE8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376732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A45E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Who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236976" y="3749040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E9EEFF"/>
          </a:solidFill>
          <a:ln w="1270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376732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551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When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096512" y="3749040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E7F6F0"/>
          </a:solidFill>
          <a:ln w="12700">
            <a:solidFill>
              <a:srgbClr val="E7F6F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69664" y="3767328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8E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029200" y="3749040"/>
            <a:ext cx="768096" cy="292608"/>
          </a:xfrm>
          <a:prstGeom prst="roundRect">
            <a:avLst>
              <a:gd name="adj" fmla="val 25000"/>
            </a:avLst>
          </a:prstGeom>
          <a:solidFill>
            <a:srgbClr val="EEE8FF"/>
          </a:solidFill>
          <a:ln w="12700">
            <a:solidFill>
              <a:srgbClr val="EEE8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376732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6A45E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58368" y="4251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你會在後面看到：每一套系統都用這六個角度拆一次，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最後再把三者怎麼串在一起講明白。</a:t>
            </a:r>
            <a:endParaRPr lang="en-US" sz="1520" dirty="0"/>
          </a:p>
        </p:txBody>
      </p:sp>
      <p:sp>
        <p:nvSpPr>
          <p:cNvPr id="22" name="Shape 20"/>
          <p:cNvSpPr/>
          <p:nvPr/>
        </p:nvSpPr>
        <p:spPr>
          <a:xfrm>
            <a:off x="5943600" y="685800"/>
            <a:ext cx="5623560" cy="5440680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pic>
        <p:nvPicPr>
          <p:cNvPr id="23" name="Image 0" descr="/mnt/data/ga4_crm_bi_infograph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4768" y="1930527"/>
            <a:ext cx="5230368" cy="2942082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272784" y="5715000"/>
            <a:ext cx="4992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一眼先記住：GA4 看行為，CRM 看客戶，BI 看全局。</a:t>
            </a:r>
            <a:endParaRPr lang="en-US" sz="1520" dirty="0"/>
          </a:p>
        </p:txBody>
      </p:sp>
      <p:sp>
        <p:nvSpPr>
          <p:cNvPr id="25" name="Text 22"/>
          <p:cNvSpPr/>
          <p:nvPr/>
        </p:nvSpPr>
        <p:spPr>
          <a:xfrm>
            <a:off x="11356848" y="475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51B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56848" y="475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51B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43891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E8ECFF"/>
          </a:solidFill>
          <a:ln w="12700">
            <a:solidFill>
              <a:srgbClr val="E8E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4D6B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先抓大方向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三套系統，回答的是三種不同層次的問題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先別急著問哪個比較好；先問你現在卡在哪一層。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3127248" cy="3822192"/>
          </a:xfrm>
          <a:prstGeom prst="roundRect">
            <a:avLst>
              <a:gd name="adj" fmla="val 6433"/>
            </a:avLst>
          </a:prstGeom>
          <a:solidFill>
            <a:srgbClr val="FFFFFF"/>
          </a:solidFill>
          <a:ln w="12700">
            <a:solidFill>
              <a:srgbClr val="E3E7FF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755648"/>
            <a:ext cx="3127248" cy="91440"/>
          </a:xfrm>
          <a:prstGeom prst="roundRect">
            <a:avLst>
              <a:gd name="adj" fmla="val 50000"/>
            </a:avLst>
          </a:prstGeom>
          <a:solidFill>
            <a:srgbClr val="4D6BFF"/>
          </a:solidFill>
          <a:ln w="12700">
            <a:solidFill>
              <a:srgbClr val="4D6B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975104"/>
            <a:ext cx="1060704" cy="256032"/>
          </a:xfrm>
          <a:prstGeom prst="roundRect">
            <a:avLst>
              <a:gd name="adj" fmla="val 28571"/>
            </a:avLst>
          </a:prstGeom>
          <a:solidFill>
            <a:srgbClr val="E9EEFF"/>
          </a:solidFill>
          <a:ln w="1270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9933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4D6B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看站上行為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841248" y="23317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4D6B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GA4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41248" y="281635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使用者怎麼進站、走到哪、</a:t>
            </a:r>
            <a:endParaRPr lang="en-US" sz="1620" dirty="0"/>
          </a:p>
          <a:p>
            <a:pPr indent="0" marL="0">
              <a:buNone/>
            </a:pPr>
            <a:r>
              <a:rPr lang="en-US" sz="162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哪裡轉換、哪裡流失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841248" y="3950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輸出：來源、事件、漏斗、路徑</a:t>
            </a:r>
            <a:endParaRPr lang="en-US" sz="1360" dirty="0"/>
          </a:p>
        </p:txBody>
      </p:sp>
      <p:sp>
        <p:nvSpPr>
          <p:cNvPr id="14" name="Text 12"/>
          <p:cNvSpPr/>
          <p:nvPr/>
        </p:nvSpPr>
        <p:spPr>
          <a:xfrm>
            <a:off x="841248" y="42611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常看角色：行銷 / 成長 / 產品</a:t>
            </a:r>
            <a:endParaRPr lang="en-US" sz="1360" dirty="0"/>
          </a:p>
        </p:txBody>
      </p:sp>
      <p:sp>
        <p:nvSpPr>
          <p:cNvPr id="15" name="Shape 13"/>
          <p:cNvSpPr/>
          <p:nvPr/>
        </p:nvSpPr>
        <p:spPr>
          <a:xfrm>
            <a:off x="822960" y="4773168"/>
            <a:ext cx="2798064" cy="530352"/>
          </a:xfrm>
          <a:prstGeom prst="roundRect">
            <a:avLst>
              <a:gd name="adj" fmla="val 27586"/>
            </a:avLst>
          </a:prstGeom>
          <a:solidFill>
            <a:srgbClr val="F1F3FF"/>
          </a:solidFill>
          <a:ln w="12700">
            <a:solidFill>
              <a:srgbClr val="E6EA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94690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3F58C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回答「發生了什麼」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4096512" y="1755648"/>
            <a:ext cx="3127248" cy="3822192"/>
          </a:xfrm>
          <a:prstGeom prst="roundRect">
            <a:avLst>
              <a:gd name="adj" fmla="val 6433"/>
            </a:avLst>
          </a:prstGeom>
          <a:solidFill>
            <a:srgbClr val="FFFFFF"/>
          </a:solidFill>
          <a:ln w="12700">
            <a:solidFill>
              <a:srgbClr val="DBF1EA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96512" y="1755648"/>
            <a:ext cx="3127248" cy="91440"/>
          </a:xfrm>
          <a:prstGeom prst="roundRect">
            <a:avLst>
              <a:gd name="adj" fmla="val 50000"/>
            </a:avLst>
          </a:prstGeom>
          <a:solidFill>
            <a:srgbClr val="1FA77A"/>
          </a:solidFill>
          <a:ln w="12700">
            <a:solidFill>
              <a:srgbClr val="1FA77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9392" y="1975104"/>
            <a:ext cx="1060704" cy="256032"/>
          </a:xfrm>
          <a:prstGeom prst="roundRect">
            <a:avLst>
              <a:gd name="adj" fmla="val 28571"/>
            </a:avLst>
          </a:prstGeom>
          <a:solidFill>
            <a:srgbClr val="E7F6F0"/>
          </a:solidFill>
          <a:ln w="12700">
            <a:solidFill>
              <a:srgbClr val="E7F6F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2544" y="19933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FA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看客戶與商機</a:t>
            </a:r>
            <a:endParaRPr lang="en-US" sz="1040" dirty="0"/>
          </a:p>
        </p:txBody>
      </p:sp>
      <p:sp>
        <p:nvSpPr>
          <p:cNvPr id="21" name="Text 19"/>
          <p:cNvSpPr/>
          <p:nvPr/>
        </p:nvSpPr>
        <p:spPr>
          <a:xfrm>
            <a:off x="4279392" y="23317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A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CRM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4279392" y="281635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這個客戶是誰、互動過什麼、</a:t>
            </a:r>
            <a:endParaRPr lang="en-US" sz="1620" dirty="0"/>
          </a:p>
          <a:p>
            <a:pPr indent="0" marL="0">
              <a:buNone/>
            </a:pPr>
            <a:r>
              <a:rPr lang="en-US" sz="162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商機走到哪、成交了沒</a:t>
            </a:r>
            <a:endParaRPr lang="en-US" sz="1620" dirty="0"/>
          </a:p>
        </p:txBody>
      </p:sp>
      <p:sp>
        <p:nvSpPr>
          <p:cNvPr id="23" name="Text 21"/>
          <p:cNvSpPr/>
          <p:nvPr/>
        </p:nvSpPr>
        <p:spPr>
          <a:xfrm>
            <a:off x="4279392" y="3950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輸出：客戶檔案、任務、pipeline</a:t>
            </a:r>
            <a:endParaRPr lang="en-US" sz="1360" dirty="0"/>
          </a:p>
        </p:txBody>
      </p:sp>
      <p:sp>
        <p:nvSpPr>
          <p:cNvPr id="24" name="Text 22"/>
          <p:cNvSpPr/>
          <p:nvPr/>
        </p:nvSpPr>
        <p:spPr>
          <a:xfrm>
            <a:off x="4279392" y="42611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常看角色：業務 / 客服 / CSM</a:t>
            </a:r>
            <a:endParaRPr lang="en-US" sz="1360" dirty="0"/>
          </a:p>
        </p:txBody>
      </p:sp>
      <p:sp>
        <p:nvSpPr>
          <p:cNvPr id="25" name="Shape 23"/>
          <p:cNvSpPr/>
          <p:nvPr/>
        </p:nvSpPr>
        <p:spPr>
          <a:xfrm>
            <a:off x="4261104" y="4773168"/>
            <a:ext cx="2798064" cy="530352"/>
          </a:xfrm>
          <a:prstGeom prst="roundRect">
            <a:avLst>
              <a:gd name="adj" fmla="val 27586"/>
            </a:avLst>
          </a:prstGeom>
          <a:solidFill>
            <a:srgbClr val="EDF8F4"/>
          </a:solidFill>
          <a:ln w="12700">
            <a:solidFill>
              <a:srgbClr val="E0F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494690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1D846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回答「這個客戶現在在哪」</a:t>
            </a:r>
            <a:endParaRPr lang="en-US" sz="1360" dirty="0"/>
          </a:p>
        </p:txBody>
      </p:sp>
      <p:sp>
        <p:nvSpPr>
          <p:cNvPr id="27" name="Shape 25"/>
          <p:cNvSpPr/>
          <p:nvPr/>
        </p:nvSpPr>
        <p:spPr>
          <a:xfrm>
            <a:off x="7534656" y="1755648"/>
            <a:ext cx="3127248" cy="3822192"/>
          </a:xfrm>
          <a:prstGeom prst="roundRect">
            <a:avLst>
              <a:gd name="adj" fmla="val 6433"/>
            </a:avLst>
          </a:prstGeom>
          <a:solidFill>
            <a:srgbClr val="FFFFFF"/>
          </a:solidFill>
          <a:ln w="12700">
            <a:solidFill>
              <a:srgbClr val="EAE5FE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34656" y="1755648"/>
            <a:ext cx="3127248" cy="91440"/>
          </a:xfrm>
          <a:prstGeom prst="roundRect">
            <a:avLst>
              <a:gd name="adj" fmla="val 50000"/>
            </a:avLst>
          </a:prstGeom>
          <a:solidFill>
            <a:srgbClr val="7D5BF6"/>
          </a:solidFill>
          <a:ln w="12700">
            <a:solidFill>
              <a:srgbClr val="7D5BF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17536" y="1975104"/>
            <a:ext cx="1060704" cy="256032"/>
          </a:xfrm>
          <a:prstGeom prst="roundRect">
            <a:avLst>
              <a:gd name="adj" fmla="val 28571"/>
            </a:avLst>
          </a:prstGeom>
          <a:solidFill>
            <a:srgbClr val="EEE8FF"/>
          </a:solidFill>
          <a:ln w="12700">
            <a:solidFill>
              <a:srgbClr val="EEE8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0688" y="19933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7D5B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看全局與決策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7717536" y="23317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7D5B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BI</a:t>
            </a:r>
            <a:endParaRPr lang="en-US" sz="2700" dirty="0"/>
          </a:p>
        </p:txBody>
      </p:sp>
      <p:sp>
        <p:nvSpPr>
          <p:cNvPr id="32" name="Text 30"/>
          <p:cNvSpPr/>
          <p:nvPr/>
        </p:nvSpPr>
        <p:spPr>
          <a:xfrm>
            <a:off x="7717536" y="2816352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整體營收好不好、</a:t>
            </a:r>
            <a:endParaRPr lang="en-US" sz="1620" dirty="0"/>
          </a:p>
          <a:p>
            <a:pPr indent="0" marL="0">
              <a:buNone/>
            </a:pPr>
            <a:r>
              <a:rPr lang="en-US" sz="162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哪個渠道賺錢、目標有沒有達標</a:t>
            </a:r>
            <a:endParaRPr lang="en-US" sz="1620" dirty="0"/>
          </a:p>
        </p:txBody>
      </p:sp>
      <p:sp>
        <p:nvSpPr>
          <p:cNvPr id="33" name="Text 31"/>
          <p:cNvSpPr/>
          <p:nvPr/>
        </p:nvSpPr>
        <p:spPr>
          <a:xfrm>
            <a:off x="7717536" y="39502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輸出：KPI、ROI、forecast、看板</a:t>
            </a:r>
            <a:endParaRPr lang="en-US" sz="1360" dirty="0"/>
          </a:p>
        </p:txBody>
      </p:sp>
      <p:sp>
        <p:nvSpPr>
          <p:cNvPr id="34" name="Text 32"/>
          <p:cNvSpPr/>
          <p:nvPr/>
        </p:nvSpPr>
        <p:spPr>
          <a:xfrm>
            <a:off x="7717536" y="42611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常看角色：主管 / 經營層 / 分析師</a:t>
            </a:r>
            <a:endParaRPr lang="en-US" sz="1360" dirty="0"/>
          </a:p>
        </p:txBody>
      </p:sp>
      <p:sp>
        <p:nvSpPr>
          <p:cNvPr id="35" name="Shape 33"/>
          <p:cNvSpPr/>
          <p:nvPr/>
        </p:nvSpPr>
        <p:spPr>
          <a:xfrm>
            <a:off x="7699248" y="4773168"/>
            <a:ext cx="2798064" cy="530352"/>
          </a:xfrm>
          <a:prstGeom prst="roundRect">
            <a:avLst>
              <a:gd name="adj" fmla="val 27586"/>
            </a:avLst>
          </a:prstGeom>
          <a:solidFill>
            <a:srgbClr val="F5F2FE"/>
          </a:solidFill>
          <a:ln w="12700">
            <a:solidFill>
              <a:srgbClr val="EDE8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08976" y="494690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0" b="1" dirty="0">
                <a:solidFill>
                  <a:srgbClr val="624CC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回答「整體生意好不好」</a:t>
            </a:r>
            <a:endParaRPr lang="en-US" sz="1360" dirty="0"/>
          </a:p>
        </p:txBody>
      </p:sp>
      <p:sp>
        <p:nvSpPr>
          <p:cNvPr id="37" name="Shape 35"/>
          <p:cNvSpPr/>
          <p:nvPr/>
        </p:nvSpPr>
        <p:spPr>
          <a:xfrm>
            <a:off x="566928" y="6309360"/>
            <a:ext cx="11064240" cy="310896"/>
          </a:xfrm>
          <a:prstGeom prst="roundRect">
            <a:avLst>
              <a:gd name="adj" fmla="val 52941"/>
            </a:avLst>
          </a:prstGeom>
          <a:solidFill>
            <a:srgbClr val="EDF0FF"/>
          </a:solidFill>
          <a:ln w="12700">
            <a:solidFill>
              <a:srgbClr val="E4E9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6382512"/>
            <a:ext cx="1057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E56C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先分層次，再挑工具：行為問題先看 GA4，客戶問題先看 CRM，跨系統經營問題先看 BI。</a:t>
            </a:r>
            <a:endParaRPr lang="en-US" sz="14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56848" y="475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51B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43891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E8ECFF"/>
          </a:solidFill>
          <a:ln w="12700">
            <a:solidFill>
              <a:srgbClr val="E8E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4D6B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GA4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GA4｜用 5W1H 看懂網站行為分析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當你要知道「人怎麼走、哪裡轉換、哪裡流失」，先打開 GA4。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F1F3FF"/>
          </a:solidFill>
          <a:ln w="12700">
            <a:solidFill>
              <a:srgbClr val="DBE1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709928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4D6BFF"/>
          </a:solidFill>
          <a:ln w="12700">
            <a:solidFill>
              <a:srgbClr val="4D6B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72821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是什麼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13232" y="2066544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網站／App 的事件分析，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看流量、事件、轉換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890772" y="1572768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F1F3FF"/>
          </a:solidFill>
          <a:ln w="12700">
            <a:solidFill>
              <a:srgbClr val="DBE1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37076" y="1709928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4D6BFF"/>
          </a:solidFill>
          <a:ln w="12700">
            <a:solidFill>
              <a:srgbClr val="4D6B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0228" y="172821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為什麼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037076" y="2066544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找出高品質流量與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漏斗卡點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66928" y="3139440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F1F3FF"/>
          </a:solidFill>
          <a:ln w="12700">
            <a:solidFill>
              <a:srgbClr val="DBE1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276600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4D6BFF"/>
          </a:solidFill>
          <a:ln w="12700">
            <a:solidFill>
              <a:srgbClr val="4D6B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29488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Who 誰在看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13232" y="3633216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行銷、產品、成長、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電商營運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3890772" y="3139440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F1F3FF"/>
          </a:solidFill>
          <a:ln w="12700">
            <a:solidFill>
              <a:srgbClr val="DBE1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37076" y="3276600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4D6BFF"/>
          </a:solidFill>
          <a:ln w="12700">
            <a:solidFill>
              <a:srgbClr val="4D6B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0228" y="329488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When 何時看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037076" y="3633216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投放後、改版後、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活動上線後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66928" y="4706112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F1F3FF"/>
          </a:solidFill>
          <a:ln w="12700">
            <a:solidFill>
              <a:srgbClr val="DBE1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843272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4D6BFF"/>
          </a:solidFill>
          <a:ln w="12700">
            <a:solidFill>
              <a:srgbClr val="4D6B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86156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 看哪裡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13232" y="5199888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報表、探索、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漏斗與路徑分析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3890772" y="4706112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F1F3FF"/>
          </a:solidFill>
          <a:ln w="12700">
            <a:solidFill>
              <a:srgbClr val="DBE1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37076" y="4843272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4D6BFF"/>
          </a:solidFill>
          <a:ln w="12700">
            <a:solidFill>
              <a:srgbClr val="4D6B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0228" y="486156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怎麼用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4037076" y="5199888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先定 KPI，再設事件與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轉換，最後做分群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251192" y="1572768"/>
            <a:ext cx="4370832" cy="4535424"/>
          </a:xfrm>
          <a:prstGeom prst="roundRect">
            <a:avLst>
              <a:gd name="adj" fmla="val 4603"/>
            </a:avLst>
          </a:prstGeom>
          <a:solidFill>
            <a:srgbClr val="FFFFFF"/>
          </a:solidFill>
          <a:ln w="12700">
            <a:solidFill>
              <a:srgbClr val="DFE4FF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34072" y="1737360"/>
            <a:ext cx="987552" cy="256032"/>
          </a:xfrm>
          <a:prstGeom prst="roundRect">
            <a:avLst>
              <a:gd name="adj" fmla="val 28571"/>
            </a:avLst>
          </a:prstGeom>
          <a:solidFill>
            <a:srgbClr val="EAEDFF"/>
          </a:solidFill>
          <a:ln w="12700">
            <a:solidFill>
              <a:srgbClr val="EAED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07224" y="17556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D6B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視覺示意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34072" y="207568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從流量到成交，哪一步掉最多？</a:t>
            </a:r>
            <a:endParaRPr lang="en-US" sz="1850" dirty="0"/>
          </a:p>
        </p:txBody>
      </p:sp>
      <p:sp>
        <p:nvSpPr>
          <p:cNvPr id="35" name="Text 33"/>
          <p:cNvSpPr/>
          <p:nvPr/>
        </p:nvSpPr>
        <p:spPr>
          <a:xfrm>
            <a:off x="7434072" y="237744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數字為示意，目的是看漏斗與路徑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7790688" y="2706624"/>
            <a:ext cx="3291840" cy="384048"/>
          </a:xfrm>
          <a:prstGeom prst="roundRect">
            <a:avLst>
              <a:gd name="adj" fmla="val 23810"/>
            </a:avLst>
          </a:prstGeom>
          <a:solidFill>
            <a:srgbClr val="D8DEFF"/>
          </a:solidFill>
          <a:ln w="12700">
            <a:solidFill>
              <a:srgbClr val="D8DE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63840" y="2798064"/>
            <a:ext cx="3145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進站 Sessions｜12.4k</a:t>
            </a:r>
            <a:endParaRPr lang="en-US" sz="1260" dirty="0"/>
          </a:p>
        </p:txBody>
      </p:sp>
      <p:sp>
        <p:nvSpPr>
          <p:cNvPr id="38" name="Text 36"/>
          <p:cNvSpPr/>
          <p:nvPr/>
        </p:nvSpPr>
        <p:spPr>
          <a:xfrm>
            <a:off x="11128248" y="3072384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551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流失</a:t>
            </a:r>
            <a:endParaRPr lang="en-US" sz="920" dirty="0"/>
          </a:p>
          <a:p>
            <a:pPr algn="r" indent="0" marL="0">
              <a:buNone/>
            </a:pPr>
            <a:r>
              <a:rPr lang="en-US" sz="920" b="1" dirty="0">
                <a:solidFill>
                  <a:srgbClr val="3551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37%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8087868" y="3273552"/>
            <a:ext cx="2697480" cy="384048"/>
          </a:xfrm>
          <a:prstGeom prst="roundRect">
            <a:avLst>
              <a:gd name="adj" fmla="val 23810"/>
            </a:avLst>
          </a:prstGeom>
          <a:solidFill>
            <a:srgbClr val="E3E7FF"/>
          </a:solidFill>
          <a:ln w="12700">
            <a:solidFill>
              <a:srgbClr val="E3E7FF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61020" y="3364992"/>
            <a:ext cx="2551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商品瀏覽｜7.8k</a:t>
            </a:r>
            <a:endParaRPr lang="en-US" sz="1260" dirty="0"/>
          </a:p>
        </p:txBody>
      </p:sp>
      <p:sp>
        <p:nvSpPr>
          <p:cNvPr id="41" name="Text 39"/>
          <p:cNvSpPr/>
          <p:nvPr/>
        </p:nvSpPr>
        <p:spPr>
          <a:xfrm>
            <a:off x="11128248" y="3639312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551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流失</a:t>
            </a:r>
            <a:endParaRPr lang="en-US" sz="920" dirty="0"/>
          </a:p>
          <a:p>
            <a:pPr algn="r" indent="0" marL="0">
              <a:buNone/>
            </a:pPr>
            <a:r>
              <a:rPr lang="en-US" sz="920" b="1" dirty="0">
                <a:solidFill>
                  <a:srgbClr val="3551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76%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8430768" y="3840480"/>
            <a:ext cx="2011680" cy="384048"/>
          </a:xfrm>
          <a:prstGeom prst="roundRect">
            <a:avLst>
              <a:gd name="adj" fmla="val 23810"/>
            </a:avLst>
          </a:prstGeom>
          <a:solidFill>
            <a:srgbClr val="EAEDFF"/>
          </a:solidFill>
          <a:ln w="12700">
            <a:solidFill>
              <a:srgbClr val="EAED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03920" y="393192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加入購物車｜1.9k</a:t>
            </a:r>
            <a:endParaRPr lang="en-US" sz="1260" dirty="0"/>
          </a:p>
        </p:txBody>
      </p:sp>
      <p:sp>
        <p:nvSpPr>
          <p:cNvPr id="44" name="Text 42"/>
          <p:cNvSpPr/>
          <p:nvPr/>
        </p:nvSpPr>
        <p:spPr>
          <a:xfrm>
            <a:off x="11128248" y="4206240"/>
            <a:ext cx="164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3551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流失</a:t>
            </a:r>
            <a:endParaRPr lang="en-US" sz="920" dirty="0"/>
          </a:p>
          <a:p>
            <a:pPr algn="r" indent="0" marL="0">
              <a:buNone/>
            </a:pPr>
            <a:r>
              <a:rPr lang="en-US" sz="920" b="1" dirty="0">
                <a:solidFill>
                  <a:srgbClr val="3551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67%</a:t>
            </a:r>
            <a:endParaRPr lang="en-US" sz="920" dirty="0"/>
          </a:p>
        </p:txBody>
      </p:sp>
      <p:sp>
        <p:nvSpPr>
          <p:cNvPr id="45" name="Shape 43"/>
          <p:cNvSpPr/>
          <p:nvPr/>
        </p:nvSpPr>
        <p:spPr>
          <a:xfrm>
            <a:off x="8814816" y="4407408"/>
            <a:ext cx="1243584" cy="384048"/>
          </a:xfrm>
          <a:prstGeom prst="roundRect">
            <a:avLst>
              <a:gd name="adj" fmla="val 23810"/>
            </a:avLst>
          </a:prstGeom>
          <a:solidFill>
            <a:srgbClr val="4D6BFF"/>
          </a:solidFill>
          <a:ln w="12700">
            <a:solidFill>
              <a:srgbClr val="4D6BFF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87968" y="4498848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完成購買｜620</a:t>
            </a:r>
            <a:endParaRPr lang="en-US" sz="1260" dirty="0"/>
          </a:p>
        </p:txBody>
      </p:sp>
      <p:sp>
        <p:nvSpPr>
          <p:cNvPr id="47" name="Shape 45"/>
          <p:cNvSpPr/>
          <p:nvPr/>
        </p:nvSpPr>
        <p:spPr>
          <a:xfrm>
            <a:off x="7562088" y="4919472"/>
            <a:ext cx="603504" cy="219456"/>
          </a:xfrm>
          <a:prstGeom prst="roundRect">
            <a:avLst>
              <a:gd name="adj" fmla="val 33333"/>
            </a:avLst>
          </a:prstGeom>
          <a:solidFill>
            <a:srgbClr val="E9EEFF"/>
          </a:solidFill>
          <a:ln w="1270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35240" y="4937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551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來源</a:t>
            </a:r>
            <a:endParaRPr lang="en-US" sz="980" dirty="0"/>
          </a:p>
        </p:txBody>
      </p:sp>
      <p:sp>
        <p:nvSpPr>
          <p:cNvPr id="49" name="Shape 47"/>
          <p:cNvSpPr/>
          <p:nvPr/>
        </p:nvSpPr>
        <p:spPr>
          <a:xfrm>
            <a:off x="8238744" y="4919472"/>
            <a:ext cx="603504" cy="219456"/>
          </a:xfrm>
          <a:prstGeom prst="roundRect">
            <a:avLst>
              <a:gd name="adj" fmla="val 33333"/>
            </a:avLst>
          </a:prstGeom>
          <a:solidFill>
            <a:srgbClr val="E9EEFF"/>
          </a:solidFill>
          <a:ln w="1270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11896" y="4937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551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</a:t>
            </a:r>
            <a:endParaRPr lang="en-US" sz="980" dirty="0"/>
          </a:p>
        </p:txBody>
      </p:sp>
      <p:sp>
        <p:nvSpPr>
          <p:cNvPr id="51" name="Shape 49"/>
          <p:cNvSpPr/>
          <p:nvPr/>
        </p:nvSpPr>
        <p:spPr>
          <a:xfrm>
            <a:off x="8915400" y="4919472"/>
            <a:ext cx="603504" cy="219456"/>
          </a:xfrm>
          <a:prstGeom prst="roundRect">
            <a:avLst>
              <a:gd name="adj" fmla="val 33333"/>
            </a:avLst>
          </a:prstGeom>
          <a:solidFill>
            <a:srgbClr val="E9EEFF"/>
          </a:solidFill>
          <a:ln w="1270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88552" y="49377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551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轉換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7452360" y="5321808"/>
            <a:ext cx="3968496" cy="402336"/>
          </a:xfrm>
          <a:prstGeom prst="roundRect">
            <a:avLst>
              <a:gd name="adj" fmla="val 31818"/>
            </a:avLst>
          </a:prstGeom>
          <a:solidFill>
            <a:srgbClr val="EFF2FF"/>
          </a:solidFill>
          <a:ln w="12700">
            <a:solidFill>
              <a:srgbClr val="E6EA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0376" y="5449824"/>
            <a:ext cx="3712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GA4 最擅長回答：流量從哪來、在哪裡卡住、哪個內容有貢獻。</a:t>
            </a:r>
            <a:endParaRPr lang="en-US" sz="1280" dirty="0"/>
          </a:p>
        </p:txBody>
      </p:sp>
      <p:sp>
        <p:nvSpPr>
          <p:cNvPr id="55" name="Shape 53"/>
          <p:cNvSpPr/>
          <p:nvPr/>
        </p:nvSpPr>
        <p:spPr>
          <a:xfrm>
            <a:off x="566928" y="6309360"/>
            <a:ext cx="11064240" cy="310896"/>
          </a:xfrm>
          <a:prstGeom prst="roundRect">
            <a:avLst>
              <a:gd name="adj" fmla="val 52941"/>
            </a:avLst>
          </a:prstGeom>
          <a:solidFill>
            <a:srgbClr val="EDF0FF"/>
          </a:solidFill>
          <a:ln w="12700">
            <a:solidFill>
              <a:srgbClr val="E4E9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22960" y="6382512"/>
            <a:ext cx="1057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E56C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一句話記法：GA4 不是在告訴你「這個客戶是誰」，而是在告訴你「剛剛發生了什麼」。</a:t>
            </a:r>
            <a:endParaRPr lang="en-US" sz="14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56848" y="475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786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43891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E2F4EE"/>
          </a:solidFill>
          <a:ln w="12700">
            <a:solidFill>
              <a:srgbClr val="E2F4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A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CRM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CRM｜用 5W1H 看懂客戶與商機管理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當你要知道「這個客戶是誰、跟進到哪、成交了沒」，先打開 CRM。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EDF8F4"/>
          </a:solidFill>
          <a:ln w="12700">
            <a:solidFill>
              <a:srgbClr val="D2ED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709928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1FA77A"/>
          </a:solidFill>
          <a:ln w="12700">
            <a:solidFill>
              <a:srgbClr val="1FA77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72821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是什麼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13232" y="2066544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客戶與商機管理，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記錄人、事、進度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890772" y="1572768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EDF8F4"/>
          </a:solidFill>
          <a:ln w="12700">
            <a:solidFill>
              <a:srgbClr val="D2ED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37076" y="1709928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1FA77A"/>
          </a:solidFill>
          <a:ln w="12700">
            <a:solidFill>
              <a:srgbClr val="1FA7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0228" y="172821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為什麼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037076" y="2066544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避免名單散落，讓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跟進有節奏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66928" y="3139440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EDF8F4"/>
          </a:solidFill>
          <a:ln w="12700">
            <a:solidFill>
              <a:srgbClr val="D2ED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276600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1FA77A"/>
          </a:solidFill>
          <a:ln w="12700">
            <a:solidFill>
              <a:srgbClr val="1FA77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29488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Who 誰在看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13232" y="3633216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業務、BD、客服、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CSM 與主管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3890772" y="3139440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EDF8F4"/>
          </a:solidFill>
          <a:ln w="12700">
            <a:solidFill>
              <a:srgbClr val="D2ED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37076" y="3276600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1FA77A"/>
          </a:solidFill>
          <a:ln w="12700">
            <a:solidFill>
              <a:srgbClr val="1FA77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0228" y="329488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When 何時看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037076" y="3633216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名單進來、拜訪後、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提案到續約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66928" y="4706112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EDF8F4"/>
          </a:solidFill>
          <a:ln w="12700">
            <a:solidFill>
              <a:srgbClr val="D2ED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843272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1FA77A"/>
          </a:solidFill>
          <a:ln w="12700">
            <a:solidFill>
              <a:srgbClr val="1FA77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86156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 看哪裡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13232" y="5199888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Contact、Account、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Deal、Task、Activity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3890772" y="4706112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EDF8F4"/>
          </a:solidFill>
          <a:ln w="12700">
            <a:solidFill>
              <a:srgbClr val="D2EDE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37076" y="4843272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1FA77A"/>
          </a:solidFill>
          <a:ln w="12700">
            <a:solidFill>
              <a:srgbClr val="1FA77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0228" y="486156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怎麼用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4037076" y="5199888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定義階段、SLA 與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下一步行動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251192" y="1572768"/>
            <a:ext cx="4370832" cy="4535424"/>
          </a:xfrm>
          <a:prstGeom prst="roundRect">
            <a:avLst>
              <a:gd name="adj" fmla="val 4603"/>
            </a:avLst>
          </a:prstGeom>
          <a:solidFill>
            <a:srgbClr val="FFFFFF"/>
          </a:solidFill>
          <a:ln w="12700">
            <a:solidFill>
              <a:srgbClr val="D7EFE7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34072" y="1737360"/>
            <a:ext cx="987552" cy="256032"/>
          </a:xfrm>
          <a:prstGeom prst="roundRect">
            <a:avLst>
              <a:gd name="adj" fmla="val 28571"/>
            </a:avLst>
          </a:prstGeom>
          <a:solidFill>
            <a:srgbClr val="E4F4EF"/>
          </a:solidFill>
          <a:ln w="12700">
            <a:solidFill>
              <a:srgbClr val="E4F4E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07224" y="17556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A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視覺示意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34072" y="207568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把名單變成成交，要有節奏的 pipeline</a:t>
            </a:r>
            <a:endParaRPr lang="en-US" sz="1850" dirty="0"/>
          </a:p>
        </p:txBody>
      </p:sp>
      <p:sp>
        <p:nvSpPr>
          <p:cNvPr id="35" name="Text 33"/>
          <p:cNvSpPr/>
          <p:nvPr/>
        </p:nvSpPr>
        <p:spPr>
          <a:xfrm>
            <a:off x="7434072" y="237744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示意商機階段與下一步行動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7781544" y="3017520"/>
            <a:ext cx="3218688" cy="0"/>
          </a:xfrm>
          <a:prstGeom prst="line">
            <a:avLst/>
          </a:prstGeom>
          <a:noFill/>
          <a:ln w="25400">
            <a:solidFill>
              <a:srgbClr val="C0E6DA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488936" y="2743200"/>
            <a:ext cx="493776" cy="493776"/>
          </a:xfrm>
          <a:prstGeom prst="ellipse">
            <a:avLst/>
          </a:prstGeom>
          <a:solidFill>
            <a:srgbClr val="E4F4EF"/>
          </a:solidFill>
          <a:ln w="12700">
            <a:solidFill>
              <a:srgbClr val="C1E6D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88936" y="289864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7443216" y="3383280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名單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7443216" y="3621024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C786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320</a:t>
            </a:r>
            <a:endParaRPr lang="en-US" sz="1380" dirty="0"/>
          </a:p>
        </p:txBody>
      </p:sp>
      <p:sp>
        <p:nvSpPr>
          <p:cNvPr id="41" name="Shape 39"/>
          <p:cNvSpPr/>
          <p:nvPr/>
        </p:nvSpPr>
        <p:spPr>
          <a:xfrm>
            <a:off x="8238744" y="2743200"/>
            <a:ext cx="493776" cy="493776"/>
          </a:xfrm>
          <a:prstGeom prst="ellipse">
            <a:avLst/>
          </a:prstGeom>
          <a:solidFill>
            <a:srgbClr val="DBF1EA"/>
          </a:solidFill>
          <a:ln w="12700">
            <a:solidFill>
              <a:srgbClr val="B9E4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38744" y="289864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8193024" y="3383280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已資格</a:t>
            </a:r>
            <a:endParaRPr lang="en-US" sz="1080" dirty="0"/>
          </a:p>
        </p:txBody>
      </p:sp>
      <p:sp>
        <p:nvSpPr>
          <p:cNvPr id="44" name="Text 42"/>
          <p:cNvSpPr/>
          <p:nvPr/>
        </p:nvSpPr>
        <p:spPr>
          <a:xfrm>
            <a:off x="8193024" y="3621024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C786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128</a:t>
            </a:r>
            <a:endParaRPr lang="en-US" sz="1380" dirty="0"/>
          </a:p>
        </p:txBody>
      </p:sp>
      <p:sp>
        <p:nvSpPr>
          <p:cNvPr id="45" name="Shape 43"/>
          <p:cNvSpPr/>
          <p:nvPr/>
        </p:nvSpPr>
        <p:spPr>
          <a:xfrm>
            <a:off x="8988552" y="2743200"/>
            <a:ext cx="493776" cy="493776"/>
          </a:xfrm>
          <a:prstGeom prst="ellipse">
            <a:avLst/>
          </a:prstGeom>
          <a:solidFill>
            <a:srgbClr val="D2EDE4"/>
          </a:solidFill>
          <a:ln w="12700">
            <a:solidFill>
              <a:srgbClr val="B2E0D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988552" y="289864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8942832" y="3383280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已提案</a:t>
            </a:r>
            <a:endParaRPr lang="en-US" sz="1080" dirty="0"/>
          </a:p>
        </p:txBody>
      </p:sp>
      <p:sp>
        <p:nvSpPr>
          <p:cNvPr id="48" name="Text 46"/>
          <p:cNvSpPr/>
          <p:nvPr/>
        </p:nvSpPr>
        <p:spPr>
          <a:xfrm>
            <a:off x="8942832" y="3621024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C786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42</a:t>
            </a:r>
            <a:endParaRPr lang="en-US" sz="1380" dirty="0"/>
          </a:p>
        </p:txBody>
      </p:sp>
      <p:sp>
        <p:nvSpPr>
          <p:cNvPr id="49" name="Shape 47"/>
          <p:cNvSpPr/>
          <p:nvPr/>
        </p:nvSpPr>
        <p:spPr>
          <a:xfrm>
            <a:off x="9738360" y="2743200"/>
            <a:ext cx="493776" cy="493776"/>
          </a:xfrm>
          <a:prstGeom prst="ellipse">
            <a:avLst/>
          </a:prstGeom>
          <a:solidFill>
            <a:srgbClr val="C0E6DA"/>
          </a:solidFill>
          <a:ln w="12700">
            <a:solidFill>
              <a:srgbClr val="A3DBC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738360" y="289864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1080" dirty="0"/>
          </a:p>
        </p:txBody>
      </p:sp>
      <p:sp>
        <p:nvSpPr>
          <p:cNvPr id="51" name="Text 49"/>
          <p:cNvSpPr/>
          <p:nvPr/>
        </p:nvSpPr>
        <p:spPr>
          <a:xfrm>
            <a:off x="9692640" y="3383280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談判中</a:t>
            </a:r>
            <a:endParaRPr lang="en-US" sz="1080" dirty="0"/>
          </a:p>
        </p:txBody>
      </p:sp>
      <p:sp>
        <p:nvSpPr>
          <p:cNvPr id="52" name="Text 50"/>
          <p:cNvSpPr/>
          <p:nvPr/>
        </p:nvSpPr>
        <p:spPr>
          <a:xfrm>
            <a:off x="9692640" y="3621024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C786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380" dirty="0"/>
          </a:p>
        </p:txBody>
      </p:sp>
      <p:sp>
        <p:nvSpPr>
          <p:cNvPr id="53" name="Shape 51"/>
          <p:cNvSpPr/>
          <p:nvPr/>
        </p:nvSpPr>
        <p:spPr>
          <a:xfrm>
            <a:off x="10488168" y="2743200"/>
            <a:ext cx="493776" cy="493776"/>
          </a:xfrm>
          <a:prstGeom prst="ellipse">
            <a:avLst/>
          </a:prstGeom>
          <a:solidFill>
            <a:srgbClr val="1FA77A"/>
          </a:solidFill>
          <a:ln w="12700">
            <a:solidFill>
              <a:srgbClr val="1FA77A"/>
            </a:solidFill>
            <a:prstDash val="solid"/>
          </a:ln>
          <a:effectLst>
            <a:outerShdw sx="100000" sy="100000" kx="0" ky="0" algn="bl" rotWithShape="0" blurRad="25400" dist="12700" dir="2700000">
              <a:srgbClr val="A7F3D0">
                <a:alpha val="12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10488168" y="2898648"/>
            <a:ext cx="4937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080" dirty="0"/>
          </a:p>
        </p:txBody>
      </p:sp>
      <p:sp>
        <p:nvSpPr>
          <p:cNvPr id="55" name="Text 53"/>
          <p:cNvSpPr/>
          <p:nvPr/>
        </p:nvSpPr>
        <p:spPr>
          <a:xfrm>
            <a:off x="10442448" y="3383280"/>
            <a:ext cx="5852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成交</a:t>
            </a:r>
            <a:endParaRPr lang="en-US" sz="1080" dirty="0"/>
          </a:p>
        </p:txBody>
      </p:sp>
      <p:sp>
        <p:nvSpPr>
          <p:cNvPr id="56" name="Text 54"/>
          <p:cNvSpPr/>
          <p:nvPr/>
        </p:nvSpPr>
        <p:spPr>
          <a:xfrm>
            <a:off x="10442448" y="3621024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1C786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380" dirty="0"/>
          </a:p>
        </p:txBody>
      </p:sp>
      <p:sp>
        <p:nvSpPr>
          <p:cNvPr id="57" name="Shape 55"/>
          <p:cNvSpPr/>
          <p:nvPr/>
        </p:nvSpPr>
        <p:spPr>
          <a:xfrm>
            <a:off x="7479792" y="4078224"/>
            <a:ext cx="3913632" cy="585216"/>
          </a:xfrm>
          <a:prstGeom prst="roundRect">
            <a:avLst>
              <a:gd name="adj" fmla="val 21875"/>
            </a:avLst>
          </a:prstGeom>
          <a:solidFill>
            <a:srgbClr val="EFF9F6"/>
          </a:solidFill>
          <a:ln w="12700">
            <a:solidFill>
              <a:srgbClr val="E0F3E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616952" y="4270248"/>
            <a:ext cx="640080" cy="201168"/>
          </a:xfrm>
          <a:prstGeom prst="roundRect">
            <a:avLst>
              <a:gd name="adj" fmla="val 36364"/>
            </a:avLst>
          </a:prstGeom>
          <a:solidFill>
            <a:srgbClr val="E7F6F0"/>
          </a:solidFill>
          <a:ln w="12700">
            <a:solidFill>
              <a:srgbClr val="E7F6F0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90104" y="428853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8E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負責人</a:t>
            </a:r>
            <a:endParaRPr lang="en-US" sz="960" dirty="0"/>
          </a:p>
        </p:txBody>
      </p:sp>
      <p:sp>
        <p:nvSpPr>
          <p:cNvPr id="60" name="Shape 58"/>
          <p:cNvSpPr/>
          <p:nvPr/>
        </p:nvSpPr>
        <p:spPr>
          <a:xfrm>
            <a:off x="8348472" y="4270248"/>
            <a:ext cx="640080" cy="201168"/>
          </a:xfrm>
          <a:prstGeom prst="roundRect">
            <a:avLst>
              <a:gd name="adj" fmla="val 36364"/>
            </a:avLst>
          </a:prstGeom>
          <a:solidFill>
            <a:srgbClr val="E7F6F0"/>
          </a:solidFill>
          <a:ln w="12700">
            <a:solidFill>
              <a:srgbClr val="E7F6F0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421624" y="428853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8E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</a:t>
            </a:r>
            <a:endParaRPr lang="en-US" sz="960" dirty="0"/>
          </a:p>
        </p:txBody>
      </p:sp>
      <p:sp>
        <p:nvSpPr>
          <p:cNvPr id="62" name="Shape 60"/>
          <p:cNvSpPr/>
          <p:nvPr/>
        </p:nvSpPr>
        <p:spPr>
          <a:xfrm>
            <a:off x="9079992" y="4270248"/>
            <a:ext cx="877824" cy="201168"/>
          </a:xfrm>
          <a:prstGeom prst="roundRect">
            <a:avLst>
              <a:gd name="adj" fmla="val 36364"/>
            </a:avLst>
          </a:prstGeom>
          <a:solidFill>
            <a:srgbClr val="E7F6F0"/>
          </a:solidFill>
          <a:ln w="12700">
            <a:solidFill>
              <a:srgbClr val="E7F6F0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53144" y="428853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8E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預計成交日</a:t>
            </a:r>
            <a:endParaRPr lang="en-US" sz="960" dirty="0"/>
          </a:p>
        </p:txBody>
      </p:sp>
      <p:sp>
        <p:nvSpPr>
          <p:cNvPr id="64" name="Shape 62"/>
          <p:cNvSpPr/>
          <p:nvPr/>
        </p:nvSpPr>
        <p:spPr>
          <a:xfrm>
            <a:off x="10085832" y="4270248"/>
            <a:ext cx="640080" cy="201168"/>
          </a:xfrm>
          <a:prstGeom prst="roundRect">
            <a:avLst>
              <a:gd name="adj" fmla="val 36364"/>
            </a:avLst>
          </a:prstGeom>
          <a:solidFill>
            <a:srgbClr val="E7F6F0"/>
          </a:solidFill>
          <a:ln w="12700">
            <a:solidFill>
              <a:srgbClr val="E7F6F0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158984" y="428853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0F8E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健康度</a:t>
            </a:r>
            <a:endParaRPr lang="en-US" sz="960" dirty="0"/>
          </a:p>
        </p:txBody>
      </p:sp>
      <p:sp>
        <p:nvSpPr>
          <p:cNvPr id="66" name="Shape 64"/>
          <p:cNvSpPr/>
          <p:nvPr/>
        </p:nvSpPr>
        <p:spPr>
          <a:xfrm>
            <a:off x="7452360" y="5321808"/>
            <a:ext cx="3968496" cy="402336"/>
          </a:xfrm>
          <a:prstGeom prst="roundRect">
            <a:avLst>
              <a:gd name="adj" fmla="val 31818"/>
            </a:avLst>
          </a:prstGeom>
          <a:solidFill>
            <a:srgbClr val="EBF7F3"/>
          </a:solidFill>
          <a:ln w="12700">
            <a:solidFill>
              <a:srgbClr val="E0F3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580376" y="5449824"/>
            <a:ext cx="3712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CRM 最擅長回答：這是誰、跟到哪、下一步該做什麼。</a:t>
            </a:r>
            <a:endParaRPr lang="en-US" sz="1280" dirty="0"/>
          </a:p>
        </p:txBody>
      </p:sp>
      <p:sp>
        <p:nvSpPr>
          <p:cNvPr id="68" name="Shape 66"/>
          <p:cNvSpPr/>
          <p:nvPr/>
        </p:nvSpPr>
        <p:spPr>
          <a:xfrm>
            <a:off x="566928" y="6309360"/>
            <a:ext cx="11064240" cy="310896"/>
          </a:xfrm>
          <a:prstGeom prst="roundRect">
            <a:avLst>
              <a:gd name="adj" fmla="val 52941"/>
            </a:avLst>
          </a:prstGeom>
          <a:solidFill>
            <a:srgbClr val="E9F6F2"/>
          </a:solidFill>
          <a:ln w="12700">
            <a:solidFill>
              <a:srgbClr val="DDF2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2960" y="6382512"/>
            <a:ext cx="1057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C81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一句話記法：CRM 不只是在放名單，而是在管理「人與商機的下一步」。</a:t>
            </a:r>
            <a:endParaRPr lang="en-US" sz="14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56848" y="475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947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43891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EEEAFE"/>
          </a:solidFill>
          <a:ln w="12700">
            <a:solidFill>
              <a:srgbClr val="EE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D5B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BI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BI｜用 5W1H 看懂跨系統 KPI 與管理決策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當你要知道「整體生意好不好、跨系統 KPI 怎麼看」，先打開 BI。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F5F2FE"/>
          </a:solidFill>
          <a:ln w="12700">
            <a:solidFill>
              <a:srgbClr val="E5DE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709928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7D5BF6"/>
          </a:solidFill>
          <a:ln w="12700">
            <a:solidFill>
              <a:srgbClr val="7D5BF6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72821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What 是什麼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713232" y="2066544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整合 GA4、CRM、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廣告、ERP 的指標層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890772" y="1572768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F5F2FE"/>
          </a:solidFill>
          <a:ln w="12700">
            <a:solidFill>
              <a:srgbClr val="E5DE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37076" y="1709928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7D5BF6"/>
          </a:solidFill>
          <a:ln w="12700">
            <a:solidFill>
              <a:srgbClr val="7D5B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0228" y="1728216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Why 為什麼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037076" y="2066544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讓各部門口徑一致，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可對齊決策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66928" y="3139440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F5F2FE"/>
          </a:solidFill>
          <a:ln w="12700">
            <a:solidFill>
              <a:srgbClr val="E5DEF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276600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7D5BF6"/>
          </a:solidFill>
          <a:ln w="12700">
            <a:solidFill>
              <a:srgbClr val="7D5BF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329488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Who 誰在看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13232" y="3633216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主管、財務、營運、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分析師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3890772" y="3139440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F5F2FE"/>
          </a:solidFill>
          <a:ln w="12700">
            <a:solidFill>
              <a:srgbClr val="E5DEF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37076" y="3276600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7D5BF6"/>
          </a:solidFill>
          <a:ln w="12700">
            <a:solidFill>
              <a:srgbClr val="7D5BF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0228" y="3294888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When 何時看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037076" y="3633216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週會、月會、預算、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目標檢討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566928" y="4706112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F5F2FE"/>
          </a:solidFill>
          <a:ln w="12700">
            <a:solidFill>
              <a:srgbClr val="E5DEF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843272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7D5BF6"/>
          </a:solidFill>
          <a:ln w="12700">
            <a:solidFill>
              <a:srgbClr val="7D5BF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" y="486156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Where 看哪裡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713232" y="5199888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管理看板、部門報表、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資料倉儲之上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3890772" y="4706112"/>
            <a:ext cx="3122676" cy="1402080"/>
          </a:xfrm>
          <a:prstGeom prst="roundRect">
            <a:avLst>
              <a:gd name="adj" fmla="val 9130"/>
            </a:avLst>
          </a:prstGeom>
          <a:solidFill>
            <a:srgbClr val="F5F2FE"/>
          </a:solidFill>
          <a:ln w="12700">
            <a:solidFill>
              <a:srgbClr val="E5DEF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37076" y="4843272"/>
            <a:ext cx="1207008" cy="274320"/>
          </a:xfrm>
          <a:prstGeom prst="roundRect">
            <a:avLst>
              <a:gd name="adj" fmla="val 26667"/>
            </a:avLst>
          </a:prstGeom>
          <a:solidFill>
            <a:srgbClr val="7D5BF6"/>
          </a:solidFill>
          <a:ln w="12700">
            <a:solidFill>
              <a:srgbClr val="7D5BF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0228" y="486156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How 怎麼用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4037076" y="5199888"/>
            <a:ext cx="2830068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先定口徑，再整併資料，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最後做 KPI 看板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7251192" y="1572768"/>
            <a:ext cx="4370832" cy="4535424"/>
          </a:xfrm>
          <a:prstGeom prst="roundRect">
            <a:avLst>
              <a:gd name="adj" fmla="val 4603"/>
            </a:avLst>
          </a:prstGeom>
          <a:solidFill>
            <a:srgbClr val="FFFFFF"/>
          </a:solidFill>
          <a:ln w="12700">
            <a:solidFill>
              <a:srgbClr val="E8E1FD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434072" y="1737360"/>
            <a:ext cx="987552" cy="256032"/>
          </a:xfrm>
          <a:prstGeom prst="roundRect">
            <a:avLst>
              <a:gd name="adj" fmla="val 28571"/>
            </a:avLst>
          </a:prstGeom>
          <a:solidFill>
            <a:srgbClr val="EFEBFE"/>
          </a:solidFill>
          <a:ln w="12700">
            <a:solidFill>
              <a:srgbClr val="EFEBF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07224" y="1755648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D5B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視覺示意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34072" y="207568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同一張看板，看跨系統 KPI</a:t>
            </a:r>
            <a:endParaRPr lang="en-US" sz="1850" dirty="0"/>
          </a:p>
        </p:txBody>
      </p:sp>
      <p:sp>
        <p:nvSpPr>
          <p:cNvPr id="35" name="Text 33"/>
          <p:cNvSpPr/>
          <p:nvPr/>
        </p:nvSpPr>
        <p:spPr>
          <a:xfrm>
            <a:off x="7434072" y="2377440"/>
            <a:ext cx="4005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 GA4、CRM、營收數據放在同一個語境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7452360" y="2670048"/>
            <a:ext cx="3968496" cy="2450592"/>
          </a:xfrm>
          <a:prstGeom prst="roundRect">
            <a:avLst>
              <a:gd name="adj" fmla="val 5970"/>
            </a:avLst>
          </a:prstGeom>
          <a:solidFill>
            <a:srgbClr val="F9F7FF"/>
          </a:solidFill>
          <a:ln w="12700">
            <a:solidFill>
              <a:srgbClr val="EAE5F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616952" y="2852928"/>
            <a:ext cx="1005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8E1F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08392" y="292608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營收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671816" y="307238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12.4M</a:t>
            </a:r>
            <a:endParaRPr lang="en-US" sz="1480" dirty="0"/>
          </a:p>
        </p:txBody>
      </p:sp>
      <p:sp>
        <p:nvSpPr>
          <p:cNvPr id="40" name="Shape 38"/>
          <p:cNvSpPr/>
          <p:nvPr/>
        </p:nvSpPr>
        <p:spPr>
          <a:xfrm>
            <a:off x="8833104" y="2852928"/>
            <a:ext cx="1005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8E1F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24544" y="292608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CAC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887968" y="307238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1,980</a:t>
            </a:r>
            <a:endParaRPr lang="en-US" sz="1480" dirty="0"/>
          </a:p>
        </p:txBody>
      </p:sp>
      <p:sp>
        <p:nvSpPr>
          <p:cNvPr id="43" name="Shape 41"/>
          <p:cNvSpPr/>
          <p:nvPr/>
        </p:nvSpPr>
        <p:spPr>
          <a:xfrm>
            <a:off x="10049256" y="2852928"/>
            <a:ext cx="10058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E8E1F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40696" y="292608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Win rate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0104120" y="3072384"/>
            <a:ext cx="896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23%</a:t>
            </a:r>
            <a:endParaRPr lang="en-US" sz="1480" dirty="0"/>
          </a:p>
        </p:txBody>
      </p:sp>
      <p:sp>
        <p:nvSpPr>
          <p:cNvPr id="46" name="Text 44"/>
          <p:cNvSpPr/>
          <p:nvPr/>
        </p:nvSpPr>
        <p:spPr>
          <a:xfrm>
            <a:off x="7653528" y="3621024"/>
            <a:ext cx="1335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跨來源表現（示意）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7763256" y="3995928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SEO</a:t>
            </a:r>
            <a:endParaRPr lang="en-US" sz="1020" dirty="0"/>
          </a:p>
        </p:txBody>
      </p:sp>
      <p:sp>
        <p:nvSpPr>
          <p:cNvPr id="48" name="Shape 46"/>
          <p:cNvSpPr/>
          <p:nvPr/>
        </p:nvSpPr>
        <p:spPr>
          <a:xfrm>
            <a:off x="8220456" y="4005072"/>
            <a:ext cx="822960" cy="164592"/>
          </a:xfrm>
          <a:prstGeom prst="roundRect">
            <a:avLst>
              <a:gd name="adj" fmla="val 22222"/>
            </a:avLst>
          </a:prstGeom>
          <a:solidFill>
            <a:srgbClr val="D8CEFC"/>
          </a:solidFill>
          <a:ln w="12700">
            <a:solidFill>
              <a:srgbClr val="D8CEFC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63256" y="4306824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Paid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8220456" y="4315968"/>
            <a:ext cx="1408176" cy="164592"/>
          </a:xfrm>
          <a:prstGeom prst="roundRect">
            <a:avLst>
              <a:gd name="adj" fmla="val 22222"/>
            </a:avLst>
          </a:prstGeom>
          <a:solidFill>
            <a:srgbClr val="C8BAFB"/>
          </a:solidFill>
          <a:ln w="12700">
            <a:solidFill>
              <a:srgbClr val="C8BAF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63256" y="4617720"/>
            <a:ext cx="4023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CRM</a:t>
            </a:r>
            <a:endParaRPr lang="en-US" sz="1020" dirty="0"/>
          </a:p>
        </p:txBody>
      </p:sp>
      <p:sp>
        <p:nvSpPr>
          <p:cNvPr id="52" name="Shape 50"/>
          <p:cNvSpPr/>
          <p:nvPr/>
        </p:nvSpPr>
        <p:spPr>
          <a:xfrm>
            <a:off x="8220456" y="4626864"/>
            <a:ext cx="1078992" cy="164592"/>
          </a:xfrm>
          <a:prstGeom prst="roundRect">
            <a:avLst>
              <a:gd name="adj" fmla="val 22222"/>
            </a:avLst>
          </a:prstGeom>
          <a:solidFill>
            <a:srgbClr val="E5DEFD"/>
          </a:solidFill>
          <a:ln w="12700">
            <a:solidFill>
              <a:srgbClr val="E5DEFD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848088" y="3785616"/>
            <a:ext cx="548640" cy="201168"/>
          </a:xfrm>
          <a:prstGeom prst="roundRect">
            <a:avLst>
              <a:gd name="adj" fmla="val 36364"/>
            </a:avLst>
          </a:prstGeom>
          <a:solidFill>
            <a:srgbClr val="E9EEFF"/>
          </a:solidFill>
          <a:ln w="1270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21240" y="380390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551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GA4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10451592" y="3785616"/>
            <a:ext cx="548640" cy="201168"/>
          </a:xfrm>
          <a:prstGeom prst="roundRect">
            <a:avLst>
              <a:gd name="adj" fmla="val 36364"/>
            </a:avLst>
          </a:prstGeom>
          <a:solidFill>
            <a:srgbClr val="E7F6F0"/>
          </a:solidFill>
          <a:ln w="12700">
            <a:solidFill>
              <a:srgbClr val="E7F6F0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24744" y="3803904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F8E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CRM</a:t>
            </a:r>
            <a:endParaRPr lang="en-US" sz="920" dirty="0"/>
          </a:p>
        </p:txBody>
      </p:sp>
      <p:sp>
        <p:nvSpPr>
          <p:cNvPr id="57" name="Shape 55"/>
          <p:cNvSpPr/>
          <p:nvPr/>
        </p:nvSpPr>
        <p:spPr>
          <a:xfrm>
            <a:off x="11055096" y="3785616"/>
            <a:ext cx="347472" cy="201168"/>
          </a:xfrm>
          <a:prstGeom prst="roundRect">
            <a:avLst>
              <a:gd name="adj" fmla="val 36364"/>
            </a:avLst>
          </a:prstGeom>
          <a:solidFill>
            <a:srgbClr val="EEE8FF"/>
          </a:solidFill>
          <a:ln w="12700">
            <a:solidFill>
              <a:srgbClr val="EEE8FF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1128248" y="38039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6A45E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BI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9848088" y="40782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把不同來源的結果拉到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同一張經營語言裡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452360" y="5321808"/>
            <a:ext cx="3968496" cy="402336"/>
          </a:xfrm>
          <a:prstGeom prst="roundRect">
            <a:avLst>
              <a:gd name="adj" fmla="val 31818"/>
            </a:avLst>
          </a:prstGeom>
          <a:solidFill>
            <a:srgbClr val="F3F0FE"/>
          </a:solidFill>
          <a:ln w="12700">
            <a:solidFill>
              <a:srgbClr val="EDE8F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80376" y="5449824"/>
            <a:ext cx="3712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8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BI 最擅長回答：整體好不好、哪裡該調、資源該放哪。</a:t>
            </a:r>
            <a:endParaRPr lang="en-US" sz="1280" dirty="0"/>
          </a:p>
        </p:txBody>
      </p:sp>
      <p:sp>
        <p:nvSpPr>
          <p:cNvPr id="62" name="Shape 60"/>
          <p:cNvSpPr/>
          <p:nvPr/>
        </p:nvSpPr>
        <p:spPr>
          <a:xfrm>
            <a:off x="566928" y="6309360"/>
            <a:ext cx="11064240" cy="310896"/>
          </a:xfrm>
          <a:prstGeom prst="roundRect">
            <a:avLst>
              <a:gd name="adj" fmla="val 52941"/>
            </a:avLst>
          </a:prstGeom>
          <a:solidFill>
            <a:srgbClr val="F2EFFE"/>
          </a:solidFill>
          <a:ln w="12700">
            <a:solidFill>
              <a:srgbClr val="ECE6F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960" y="6382512"/>
            <a:ext cx="1057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60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一句話記法：BI 不是另一個報表工具而已，它是把不同系統的數字翻成同一種經營語言。</a:t>
            </a:r>
            <a:endParaRPr lang="en-US" sz="14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56848" y="475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947B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43891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EEEAFE"/>
          </a:solidFill>
          <a:ln w="12700">
            <a:solidFill>
              <a:srgbClr val="EEEAF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D5B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串起來看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從站上行為到管理決策：三套系統怎麼接力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不是三個孤島，而是一條「資料 → 行動 → 結果」的鏈。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2468880" y="3090672"/>
            <a:ext cx="457200" cy="0"/>
          </a:xfrm>
          <a:prstGeom prst="line">
            <a:avLst/>
          </a:prstGeom>
          <a:noFill/>
          <a:ln w="30480">
            <a:solidFill>
              <a:srgbClr val="4560E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645152" y="3090672"/>
            <a:ext cx="457200" cy="0"/>
          </a:xfrm>
          <a:prstGeom prst="line">
            <a:avLst/>
          </a:prstGeom>
          <a:noFill/>
          <a:ln w="30480">
            <a:solidFill>
              <a:srgbClr val="1E937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821424" y="3090672"/>
            <a:ext cx="457200" cy="0"/>
          </a:xfrm>
          <a:prstGeom prst="line">
            <a:avLst/>
          </a:prstGeom>
          <a:noFill/>
          <a:ln w="30480">
            <a:solidFill>
              <a:srgbClr val="6E52DA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997696" y="3090672"/>
            <a:ext cx="457200" cy="0"/>
          </a:xfrm>
          <a:prstGeom prst="line">
            <a:avLst/>
          </a:prstGeom>
          <a:noFill/>
          <a:ln w="30480">
            <a:solidFill>
              <a:srgbClr val="6E52D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49808" y="2148840"/>
            <a:ext cx="1719072" cy="1810512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FE4FF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07008" y="2340864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E8ECFF"/>
          </a:solidFill>
          <a:ln w="12700">
            <a:solidFill>
              <a:srgbClr val="E8EC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23591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4D6B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GA4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914400" y="27432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流量來源</a:t>
            </a:r>
            <a:endParaRPr lang="en-US" sz="1820" dirty="0"/>
          </a:p>
        </p:txBody>
      </p:sp>
      <p:sp>
        <p:nvSpPr>
          <p:cNvPr id="15" name="Text 13"/>
          <p:cNvSpPr/>
          <p:nvPr/>
        </p:nvSpPr>
        <p:spPr>
          <a:xfrm>
            <a:off x="877824" y="31455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Ads / SEO / Social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2926080" y="2148840"/>
            <a:ext cx="1719072" cy="1810512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FE4FF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2340864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E8ECFF"/>
          </a:solidFill>
          <a:ln w="12700">
            <a:solidFill>
              <a:srgbClr val="E8EC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56432" y="23591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4D6B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GA4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3090672" y="27432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站上行為</a:t>
            </a:r>
            <a:endParaRPr lang="en-US" sz="1820" dirty="0"/>
          </a:p>
        </p:txBody>
      </p:sp>
      <p:sp>
        <p:nvSpPr>
          <p:cNvPr id="20" name="Text 18"/>
          <p:cNvSpPr/>
          <p:nvPr/>
        </p:nvSpPr>
        <p:spPr>
          <a:xfrm>
            <a:off x="3054096" y="31455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Page / Event / Conversion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5102352" y="2148840"/>
            <a:ext cx="1719072" cy="1810512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D7EFE7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559552" y="2340864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E2F4EE"/>
          </a:solidFill>
          <a:ln w="12700">
            <a:solidFill>
              <a:srgbClr val="E2F4E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32704" y="23591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FA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CRM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5266944" y="27432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名單與商機</a:t>
            </a:r>
            <a:endParaRPr lang="en-US" sz="1820" dirty="0"/>
          </a:p>
        </p:txBody>
      </p:sp>
      <p:sp>
        <p:nvSpPr>
          <p:cNvPr id="25" name="Text 23"/>
          <p:cNvSpPr/>
          <p:nvPr/>
        </p:nvSpPr>
        <p:spPr>
          <a:xfrm>
            <a:off x="5230368" y="31455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Lead / Contact / Deal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278624" y="2148840"/>
            <a:ext cx="1719072" cy="1810512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8E1FD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35824" y="2340864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EEEAFE"/>
          </a:solidFill>
          <a:ln w="12700">
            <a:solidFill>
              <a:srgbClr val="EEEAF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08976" y="23591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7D5B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BI</a:t>
            </a:r>
            <a:endParaRPr lang="en-US" sz="1040" dirty="0"/>
          </a:p>
        </p:txBody>
      </p:sp>
      <p:sp>
        <p:nvSpPr>
          <p:cNvPr id="29" name="Text 27"/>
          <p:cNvSpPr/>
          <p:nvPr/>
        </p:nvSpPr>
        <p:spPr>
          <a:xfrm>
            <a:off x="7443216" y="27432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營收與成效</a:t>
            </a:r>
            <a:endParaRPr lang="en-US" sz="1820" dirty="0"/>
          </a:p>
        </p:txBody>
      </p:sp>
      <p:sp>
        <p:nvSpPr>
          <p:cNvPr id="30" name="Text 28"/>
          <p:cNvSpPr/>
          <p:nvPr/>
        </p:nvSpPr>
        <p:spPr>
          <a:xfrm>
            <a:off x="7406640" y="31455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Revenue / CAC / Win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9454896" y="2148840"/>
            <a:ext cx="1719072" cy="1810512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8E1FD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912096" y="2340864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EEEAFE"/>
          </a:solidFill>
          <a:ln w="12700">
            <a:solidFill>
              <a:srgbClr val="EEEAF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85248" y="235915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7D5B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BI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9619488" y="2743200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管理看板</a:t>
            </a:r>
            <a:endParaRPr lang="en-US" sz="1820" dirty="0"/>
          </a:p>
        </p:txBody>
      </p:sp>
      <p:sp>
        <p:nvSpPr>
          <p:cNvPr id="35" name="Text 33"/>
          <p:cNvSpPr/>
          <p:nvPr/>
        </p:nvSpPr>
        <p:spPr>
          <a:xfrm>
            <a:off x="9582912" y="314553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KPI / ROI / Forecast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1005840" y="4407408"/>
            <a:ext cx="10149840" cy="987552"/>
          </a:xfrm>
          <a:prstGeom prst="roundRect">
            <a:avLst>
              <a:gd name="adj" fmla="val 16667"/>
            </a:avLst>
          </a:prstGeom>
          <a:solidFill>
            <a:srgbClr val="F9F7FF"/>
          </a:solidFill>
          <a:ln w="12700">
            <a:solidFill>
              <a:srgbClr val="EFE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234440" y="4572000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核心價值不是多看一張報表，而是把三個問題連成同一條鏈：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1234440" y="4828032"/>
            <a:ext cx="9692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5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誰來了  →  做了什麼  →  誰成交了  →  最後賺沒賺</a:t>
            </a:r>
            <a:endParaRPr lang="en-US" sz="2050" dirty="0"/>
          </a:p>
        </p:txBody>
      </p:sp>
      <p:sp>
        <p:nvSpPr>
          <p:cNvPr id="39" name="Shape 37"/>
          <p:cNvSpPr/>
          <p:nvPr/>
        </p:nvSpPr>
        <p:spPr>
          <a:xfrm>
            <a:off x="566928" y="6309360"/>
            <a:ext cx="11064240" cy="310896"/>
          </a:xfrm>
          <a:prstGeom prst="roundRect">
            <a:avLst>
              <a:gd name="adj" fmla="val 52941"/>
            </a:avLst>
          </a:prstGeom>
          <a:solidFill>
            <a:srgbClr val="F2EFFE"/>
          </a:solidFill>
          <a:ln w="12700">
            <a:solidFill>
              <a:srgbClr val="ECE6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6382512"/>
            <a:ext cx="1057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60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資料鏈一旦串起來，管理層就不只看到結果，還能追到造成結果的行為與流程。</a:t>
            </a:r>
            <a:endParaRPr lang="en-US" sz="14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56848" y="475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C786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43891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E2F4EE"/>
          </a:solidFill>
          <a:ln w="12700">
            <a:solidFill>
              <a:srgbClr val="E2F4EE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FA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實戰場景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五種常見問題，第一眼該先打開哪一套？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圖例：● 先看　○ 再聯動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13232" y="1792224"/>
            <a:ext cx="10789920" cy="429768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32688" y="2011680"/>
            <a:ext cx="713232" cy="256032"/>
          </a:xfrm>
          <a:prstGeom prst="roundRect">
            <a:avLst>
              <a:gd name="adj" fmla="val 28571"/>
            </a:avLst>
          </a:prstGeom>
          <a:solidFill>
            <a:srgbClr val="ECEDF0"/>
          </a:solidFill>
          <a:ln w="12700">
            <a:solidFill>
              <a:srgbClr val="ECEDF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2996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情境</a:t>
            </a:r>
            <a:endParaRPr lang="en-US" sz="1040" dirty="0"/>
          </a:p>
        </p:txBody>
      </p:sp>
      <p:sp>
        <p:nvSpPr>
          <p:cNvPr id="10" name="Shape 8"/>
          <p:cNvSpPr/>
          <p:nvPr/>
        </p:nvSpPr>
        <p:spPr>
          <a:xfrm>
            <a:off x="4434840" y="2011680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9EEFF"/>
          </a:solidFill>
          <a:ln w="12700">
            <a:solidFill>
              <a:srgbClr val="E9EE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20299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3551D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GA4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5349240" y="2011680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7F6F0"/>
          </a:solidFill>
          <a:ln w="12700">
            <a:solidFill>
              <a:srgbClr val="E7F6F0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22392" y="20299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0F8E6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CRM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263640" y="2011680"/>
            <a:ext cx="566928" cy="256032"/>
          </a:xfrm>
          <a:prstGeom prst="roundRect">
            <a:avLst>
              <a:gd name="adj" fmla="val 28571"/>
            </a:avLst>
          </a:prstGeom>
          <a:solidFill>
            <a:srgbClr val="EEE8FF"/>
          </a:solidFill>
          <a:ln w="12700">
            <a:solidFill>
              <a:srgbClr val="EEE8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2029968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6A45E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BI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7150608" y="2011680"/>
            <a:ext cx="804672" cy="256032"/>
          </a:xfrm>
          <a:prstGeom prst="roundRect">
            <a:avLst>
              <a:gd name="adj" fmla="val 28571"/>
            </a:avLst>
          </a:prstGeom>
          <a:solidFill>
            <a:srgbClr val="ECEDF0"/>
          </a:solidFill>
          <a:ln w="12700">
            <a:solidFill>
              <a:srgbClr val="ECEDF0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20299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914400" y="254203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官網改版後，哪個頁面掉轉換？</a:t>
            </a:r>
            <a:endParaRPr lang="en-US" sz="1540" dirty="0"/>
          </a:p>
        </p:txBody>
      </p:sp>
      <p:sp>
        <p:nvSpPr>
          <p:cNvPr id="19" name="Shape 17"/>
          <p:cNvSpPr/>
          <p:nvPr/>
        </p:nvSpPr>
        <p:spPr>
          <a:xfrm>
            <a:off x="4617720" y="2587752"/>
            <a:ext cx="164592" cy="164592"/>
          </a:xfrm>
          <a:prstGeom prst="ellipse">
            <a:avLst/>
          </a:prstGeom>
          <a:solidFill>
            <a:srgbClr val="4D6BFF"/>
          </a:solidFill>
          <a:ln w="20320">
            <a:solidFill>
              <a:srgbClr val="4D6B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2587752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D5B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251460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先找漏斗卡點，再看營收是否受影響</a:t>
            </a:r>
            <a:endParaRPr lang="en-US" sz="1420" dirty="0"/>
          </a:p>
        </p:txBody>
      </p:sp>
      <p:sp>
        <p:nvSpPr>
          <p:cNvPr id="22" name="Shape 20"/>
          <p:cNvSpPr/>
          <p:nvPr/>
        </p:nvSpPr>
        <p:spPr>
          <a:xfrm>
            <a:off x="914400" y="3108960"/>
            <a:ext cx="10222992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25526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名單進來後，誰沒有被跟進？</a:t>
            </a:r>
            <a:endParaRPr lang="en-US" sz="1540" dirty="0"/>
          </a:p>
        </p:txBody>
      </p:sp>
      <p:sp>
        <p:nvSpPr>
          <p:cNvPr id="24" name="Shape 22"/>
          <p:cNvSpPr/>
          <p:nvPr/>
        </p:nvSpPr>
        <p:spPr>
          <a:xfrm>
            <a:off x="5532120" y="3300984"/>
            <a:ext cx="164592" cy="164592"/>
          </a:xfrm>
          <a:prstGeom prst="ellipse">
            <a:avLst/>
          </a:prstGeom>
          <a:solidFill>
            <a:srgbClr val="1FA77A"/>
          </a:solidFill>
          <a:ln w="20320">
            <a:solidFill>
              <a:srgbClr val="1FA7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6520" y="3300984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D5B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322783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先查 owner / task / stage，再管 SLA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914400" y="3822192"/>
            <a:ext cx="10222992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39684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續約前，哪些客戶有流失風險？</a:t>
            </a:r>
            <a:endParaRPr lang="en-US" sz="1540" dirty="0"/>
          </a:p>
        </p:txBody>
      </p:sp>
      <p:sp>
        <p:nvSpPr>
          <p:cNvPr id="29" name="Shape 27"/>
          <p:cNvSpPr/>
          <p:nvPr/>
        </p:nvSpPr>
        <p:spPr>
          <a:xfrm>
            <a:off x="5532120" y="4014216"/>
            <a:ext cx="164592" cy="164592"/>
          </a:xfrm>
          <a:prstGeom prst="ellipse">
            <a:avLst/>
          </a:prstGeom>
          <a:solidFill>
            <a:srgbClr val="1FA77A"/>
          </a:solidFill>
          <a:ln w="20320">
            <a:solidFill>
              <a:srgbClr val="1FA7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46520" y="4014216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7D5B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3941064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先看互動與健康度，再估營收風險</a:t>
            </a:r>
            <a:endParaRPr lang="en-US" sz="1420" dirty="0"/>
          </a:p>
        </p:txBody>
      </p:sp>
      <p:sp>
        <p:nvSpPr>
          <p:cNvPr id="32" name="Shape 30"/>
          <p:cNvSpPr/>
          <p:nvPr/>
        </p:nvSpPr>
        <p:spPr>
          <a:xfrm>
            <a:off x="914400" y="4535424"/>
            <a:ext cx="10222992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46817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這月營收落後目標，問題出在哪？</a:t>
            </a:r>
            <a:endParaRPr lang="en-US" sz="1540" dirty="0"/>
          </a:p>
        </p:txBody>
      </p:sp>
      <p:sp>
        <p:nvSpPr>
          <p:cNvPr id="34" name="Shape 32"/>
          <p:cNvSpPr/>
          <p:nvPr/>
        </p:nvSpPr>
        <p:spPr>
          <a:xfrm>
            <a:off x="4617720" y="4727448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D6B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32120" y="4727448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A7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46520" y="4727448"/>
            <a:ext cx="164592" cy="164592"/>
          </a:xfrm>
          <a:prstGeom prst="ellipse">
            <a:avLst/>
          </a:prstGeom>
          <a:solidFill>
            <a:srgbClr val="7D5BF6"/>
          </a:solidFill>
          <a:ln w="20320">
            <a:solidFill>
              <a:srgbClr val="7D5B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465429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先拆營收，再回到流量與商機層追原因</a:t>
            </a:r>
            <a:endParaRPr lang="en-US" sz="1420" dirty="0"/>
          </a:p>
        </p:txBody>
      </p:sp>
      <p:sp>
        <p:nvSpPr>
          <p:cNvPr id="38" name="Shape 36"/>
          <p:cNvSpPr/>
          <p:nvPr/>
        </p:nvSpPr>
        <p:spPr>
          <a:xfrm>
            <a:off x="914400" y="5248656"/>
            <a:ext cx="10222992" cy="0"/>
          </a:xfrm>
          <a:prstGeom prst="line">
            <a:avLst/>
          </a:prstGeom>
          <a:noFill/>
          <a:ln w="12700">
            <a:solidFill>
              <a:srgbClr val="D8DF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53949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哪個渠道帶來高價值客戶？</a:t>
            </a:r>
            <a:endParaRPr lang="en-US" sz="1540" dirty="0"/>
          </a:p>
        </p:txBody>
      </p:sp>
      <p:sp>
        <p:nvSpPr>
          <p:cNvPr id="40" name="Shape 38"/>
          <p:cNvSpPr/>
          <p:nvPr/>
        </p:nvSpPr>
        <p:spPr>
          <a:xfrm>
            <a:off x="4617720" y="5440680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4D6B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32120" y="5440680"/>
            <a:ext cx="164592" cy="16459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1FA7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46520" y="5440680"/>
            <a:ext cx="164592" cy="164592"/>
          </a:xfrm>
          <a:prstGeom prst="ellipse">
            <a:avLst/>
          </a:prstGeom>
          <a:solidFill>
            <a:srgbClr val="7D5BF6"/>
          </a:solidFill>
          <a:ln w="20320">
            <a:solidFill>
              <a:srgbClr val="7D5B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0" y="5367528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需要把來源、成交與客單放進同一個口徑</a:t>
            </a:r>
            <a:endParaRPr lang="en-US" sz="1420" dirty="0"/>
          </a:p>
        </p:txBody>
      </p:sp>
      <p:sp>
        <p:nvSpPr>
          <p:cNvPr id="44" name="Shape 42"/>
          <p:cNvSpPr/>
          <p:nvPr/>
        </p:nvSpPr>
        <p:spPr>
          <a:xfrm>
            <a:off x="566928" y="6309360"/>
            <a:ext cx="11064240" cy="310896"/>
          </a:xfrm>
          <a:prstGeom prst="roundRect">
            <a:avLst>
              <a:gd name="adj" fmla="val 52941"/>
            </a:avLst>
          </a:prstGeom>
          <a:solidFill>
            <a:srgbClr val="E9F6F2"/>
          </a:solidFill>
          <a:ln w="12700">
            <a:solidFill>
              <a:srgbClr val="DDF2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6382512"/>
            <a:ext cx="10570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1C816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真正成熟的做法不是只看一套，而是知道「先看哪層、再往哪層追」。</a:t>
            </a:r>
            <a:endParaRPr lang="en-US" sz="14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56848" y="4754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A51B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1050" dirty="0"/>
          </a:p>
        </p:txBody>
      </p:sp>
      <p:sp>
        <p:nvSpPr>
          <p:cNvPr id="3" name="Shape 1"/>
          <p:cNvSpPr/>
          <p:nvPr/>
        </p:nvSpPr>
        <p:spPr>
          <a:xfrm>
            <a:off x="566928" y="43891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E8ECFF"/>
          </a:solidFill>
          <a:ln w="12700">
            <a:solidFill>
              <a:srgbClr val="E8EC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4D6B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落地建議</a:t>
            </a:r>
            <a:endParaRPr lang="en-US" sz="1120" dirty="0"/>
          </a:p>
        </p:txBody>
      </p:sp>
      <p:sp>
        <p:nvSpPr>
          <p:cNvPr id="5" name="Text 3"/>
          <p:cNvSpPr/>
          <p:nvPr/>
        </p:nvSpPr>
        <p:spPr>
          <a:xfrm>
            <a:off x="566928" y="841248"/>
            <a:ext cx="7406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如果你要真的用起來，建議照這個順序導入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2618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6670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先把定義做對，再讓系統和會議節奏接上。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78992" y="2852928"/>
            <a:ext cx="9948672" cy="0"/>
          </a:xfrm>
          <a:prstGeom prst="line">
            <a:avLst/>
          </a:prstGeom>
          <a:noFill/>
          <a:ln w="30480">
            <a:solidFill>
              <a:srgbClr val="C7D0D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993392" y="2468880"/>
            <a:ext cx="438912" cy="438912"/>
          </a:xfrm>
          <a:prstGeom prst="ellipse">
            <a:avLst/>
          </a:prstGeom>
          <a:solidFill>
            <a:srgbClr val="4D6BFF"/>
          </a:solidFill>
          <a:ln w="12700">
            <a:solidFill>
              <a:srgbClr val="4D6BFF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4D6BFF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88720" y="3108960"/>
            <a:ext cx="2423160" cy="2231136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DFE4FF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53312" y="3291840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EAEDFF"/>
          </a:solidFill>
          <a:ln w="12700">
            <a:solidFill>
              <a:srgbClr val="EAED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26464" y="331012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D6B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30 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353312" y="367588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定義與追蹤</a:t>
            </a:r>
            <a:endParaRPr lang="en-US" sz="1840" dirty="0"/>
          </a:p>
        </p:txBody>
      </p:sp>
      <p:sp>
        <p:nvSpPr>
          <p:cNvPr id="13" name="Text 11"/>
          <p:cNvSpPr/>
          <p:nvPr/>
        </p:nvSpPr>
        <p:spPr>
          <a:xfrm>
            <a:off x="1353312" y="4005072"/>
            <a:ext cx="20482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KPI、UTM、事件命名統一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客戶階段與 owner 規則明確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先做最核心的轉換追蹤</a:t>
            </a:r>
            <a:endParaRPr lang="en-US" sz="1360" dirty="0"/>
          </a:p>
        </p:txBody>
      </p:sp>
      <p:sp>
        <p:nvSpPr>
          <p:cNvPr id="14" name="Shape 12"/>
          <p:cNvSpPr/>
          <p:nvPr/>
        </p:nvSpPr>
        <p:spPr>
          <a:xfrm>
            <a:off x="5193792" y="2468880"/>
            <a:ext cx="438912" cy="438912"/>
          </a:xfrm>
          <a:prstGeom prst="ellipse">
            <a:avLst/>
          </a:prstGeom>
          <a:solidFill>
            <a:srgbClr val="1FA77A"/>
          </a:solidFill>
          <a:ln w="12700">
            <a:solidFill>
              <a:srgbClr val="1FA77A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1FA77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3108960"/>
            <a:ext cx="2423160" cy="2231136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D7EFE7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53712" y="3291840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E4F4EF"/>
          </a:solidFill>
          <a:ln w="12700">
            <a:solidFill>
              <a:srgbClr val="E4F4E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331012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A77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60 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53712" y="367588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流程與看板</a:t>
            </a:r>
            <a:endParaRPr lang="en-US" sz="1840" dirty="0"/>
          </a:p>
        </p:txBody>
      </p:sp>
      <p:sp>
        <p:nvSpPr>
          <p:cNvPr id="19" name="Text 17"/>
          <p:cNvSpPr/>
          <p:nvPr/>
        </p:nvSpPr>
        <p:spPr>
          <a:xfrm>
            <a:off x="4553712" y="4005072"/>
            <a:ext cx="20482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GA4 事件 / 轉換正式上線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CRM pipeline + SLA 落地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BI 首版管理看板可用</a:t>
            </a:r>
            <a:endParaRPr lang="en-US" sz="1360" dirty="0"/>
          </a:p>
        </p:txBody>
      </p:sp>
      <p:sp>
        <p:nvSpPr>
          <p:cNvPr id="20" name="Shape 18"/>
          <p:cNvSpPr/>
          <p:nvPr/>
        </p:nvSpPr>
        <p:spPr>
          <a:xfrm>
            <a:off x="8394192" y="2468880"/>
            <a:ext cx="438912" cy="438912"/>
          </a:xfrm>
          <a:prstGeom prst="ellipse">
            <a:avLst/>
          </a:prstGeom>
          <a:solidFill>
            <a:srgbClr val="7D5BF6"/>
          </a:solidFill>
          <a:ln w="12700">
            <a:solidFill>
              <a:srgbClr val="7D5BF6">
                <a:alpha val="0"/>
              </a:srgbClr>
            </a:solidFill>
            <a:prstDash val="solid"/>
          </a:ln>
          <a:effectLst>
            <a:outerShdw sx="100000" sy="100000" kx="0" ky="0" algn="bl" rotWithShape="0" blurRad="25400" dist="12700" dir="2700000">
              <a:srgbClr val="7D5BF6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0" y="3108960"/>
            <a:ext cx="2423160" cy="2231136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8E1FD"/>
            </a:solidFill>
            <a:prstDash val="solid"/>
          </a:ln>
          <a:effectLst>
            <a:outerShdw sx="100000" sy="100000" kx="0" ky="0" algn="bl" rotWithShape="0" blurRad="25400" dist="12700" dir="2700000">
              <a:srgbClr val="CBD5E1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54112" y="3291840"/>
            <a:ext cx="640080" cy="256032"/>
          </a:xfrm>
          <a:prstGeom prst="roundRect">
            <a:avLst>
              <a:gd name="adj" fmla="val 28571"/>
            </a:avLst>
          </a:prstGeom>
          <a:solidFill>
            <a:srgbClr val="EFEBFE"/>
          </a:solidFill>
          <a:ln w="12700">
            <a:solidFill>
              <a:srgbClr val="EFEB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27264" y="331012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D5BF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90 天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54112" y="367588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4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閉環與決策</a:t>
            </a:r>
            <a:endParaRPr lang="en-US" sz="1840" dirty="0"/>
          </a:p>
        </p:txBody>
      </p:sp>
      <p:sp>
        <p:nvSpPr>
          <p:cNvPr id="25" name="Text 23"/>
          <p:cNvSpPr/>
          <p:nvPr/>
        </p:nvSpPr>
        <p:spPr>
          <a:xfrm>
            <a:off x="7754112" y="4005072"/>
            <a:ext cx="20482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週會看 GA4 + CRM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月會看 BI 與跨部門 KPI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 把數字變成預算與流程調整</a:t>
            </a:r>
            <a:endParaRPr lang="en-US" sz="1360" dirty="0"/>
          </a:p>
        </p:txBody>
      </p:sp>
      <p:sp>
        <p:nvSpPr>
          <p:cNvPr id="26" name="Shape 24"/>
          <p:cNvSpPr/>
          <p:nvPr/>
        </p:nvSpPr>
        <p:spPr>
          <a:xfrm>
            <a:off x="859536" y="5577840"/>
            <a:ext cx="10442448" cy="713232"/>
          </a:xfrm>
          <a:prstGeom prst="roundRect">
            <a:avLst>
              <a:gd name="adj" fmla="val 23077"/>
            </a:avLst>
          </a:prstGeom>
          <a:solidFill>
            <a:srgbClr val="F3F5FF"/>
          </a:solidFill>
          <a:ln w="12700">
            <a:solidFill>
              <a:srgbClr val="E6E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5797296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16213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建議會議節奏：週看 GA4 + CRM，月看 BI；讓每次檢討都能從「發生了什麼」一路追到「接下來怎麼做」。</a:t>
            </a:r>
            <a:endParaRPr lang="en-US" sz="15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GA4、CRM、BI：用 5W1H 看懂分工與協作</dc:title>
  <dc:subject>GA4、CRM、BI 5W1H 簡報</dc:subject>
  <dc:creator>OpenAI</dc:creator>
  <cp:lastModifiedBy>OpenAI</cp:lastModifiedBy>
  <cp:revision>1</cp:revision>
  <dcterms:created xsi:type="dcterms:W3CDTF">2026-03-31T02:40:37Z</dcterms:created>
  <dcterms:modified xsi:type="dcterms:W3CDTF">2026-03-31T02:40:37Z</dcterms:modified>
</cp:coreProperties>
</file>